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4219B4-743C-4F27-A881-38E58825AB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445676-0EDB-4A3A-9A4D-A584FCCCA3A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85A3E4-8CF5-4906-BEBD-C0A88758C37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E7B6E8-F63C-43E3-AFEF-6838F96DEC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F570F1-8874-42A1-9D55-792ECE25C25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65F9CE-991B-4D25-B306-80E9E29F2DE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E354E7-E239-4438-BF71-7569797DF6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B82D326-6B57-4EDE-B9FA-2E2B60004BE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5CD2B-CD84-4F4A-8969-40554A81DAF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4C13CC-6C58-4CF0-8EA6-12263B9EB6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A4EFF1-A32D-456A-8BBA-41F897EA705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5325EB-4484-47DC-A59B-C40D1609796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11480" y="1005840"/>
            <a:ext cx="77713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Experi</a:t>
            </a:r>
            <a:r>
              <a:rPr lang="hr-HR" sz="8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8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ate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11480" y="25603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28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Njihov grad, vaša priča.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11480" y="3337560"/>
            <a:ext cx="4114800" cy="360"/>
          </a:xfrm>
          <a:prstGeom prst="line">
            <a:avLst/>
          </a:prstGeom>
          <a:ln w="1905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11480" y="3520440"/>
            <a:ext cx="5485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800" b="0" i="1" u="none" strike="noStrike">
                <a:solidFill>
                  <a:srgbClr val="d65446"/>
                </a:solidFill>
                <a:effectLst/>
                <a:uFillTx/>
                <a:latin typeface="Calibri"/>
                <a:ea typeface="Calibri"/>
              </a:rPr>
              <a:t>„Experi(ment)” + „Mate”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400800" y="1371600"/>
            <a:ext cx="22849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" name="Picture 8"/>
          <p:cNvPicPr/>
          <p:nvPr/>
        </p:nvPicPr>
        <p:blipFill>
          <a:blip r:embed="rId1"/>
          <a:stretch/>
        </p:blipFill>
        <p:spPr>
          <a:xfrm>
            <a:off x="5664240" y="1325880"/>
            <a:ext cx="3191760" cy="1873440"/>
          </a:xfrm>
          <a:prstGeom prst="rect">
            <a:avLst/>
          </a:prstGeom>
          <a:noFill/>
          <a:ln w="0">
            <a:noFill/>
          </a:ln>
          <a:effectLst>
            <a:softEdge rad="11268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11480" y="1188720"/>
            <a:ext cx="3747960" cy="2559240"/>
          </a:xfrm>
          <a:prstGeom prst="rect">
            <a:avLst/>
          </a:prstGeom>
          <a:solidFill>
            <a:srgbClr val="e8d5d3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11480" y="1188720"/>
            <a:ext cx="37479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📍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502920" y="2651760"/>
            <a:ext cx="35650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4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Turistima nedostaje autentičnih lokalnih iskustava na putovanjima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4434840" y="1188720"/>
            <a:ext cx="4296600" cy="2559240"/>
          </a:xfrm>
          <a:prstGeom prst="rect">
            <a:avLst/>
          </a:prstGeom>
          <a:solidFill>
            <a:srgbClr val="f0f0f0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434840" y="1188720"/>
            <a:ext cx="42966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📱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4526280" y="2651760"/>
            <a:ext cx="41137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4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Druženje i upoznavanje se sve više svodi na digitalne medije i online zajednice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411480" y="3977640"/>
            <a:ext cx="8319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7</a:t>
            </a:r>
            <a:r>
              <a:rPr lang="hr-HR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lang="en-US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% turista osjeća da su propustili </a:t>
            </a:r>
            <a:r>
              <a:rPr lang="hr-HR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‘dušu</a:t>
            </a:r>
            <a:r>
              <a:rPr lang="en-US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' grad</a:t>
            </a:r>
            <a:r>
              <a:rPr lang="hr-HR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lang="hr-HR" sz="1800" b="1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hr-HR" sz="18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– Cora Travels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1"/>
          <p:cNvSpPr/>
          <p:nvPr/>
        </p:nvSpPr>
        <p:spPr>
          <a:xfrm>
            <a:off x="914400" y="137160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U svijetu se godišnje dogodi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1828800"/>
            <a:ext cx="82285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8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1.4 milijarde</a:t>
            </a:r>
            <a:endParaRPr lang="en-US" sz="8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914400" y="3200400"/>
            <a:ext cx="7314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međunarodnih putovanja.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914400" y="3794760"/>
            <a:ext cx="7314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80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alibri"/>
              </a:rPr>
              <a:t>Manjina je autentična (priča se ponavlja)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11480" y="320040"/>
            <a:ext cx="45709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Rješenje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411480" y="10515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Experi</a:t>
            </a:r>
            <a:r>
              <a:rPr lang="hr-HR" sz="15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5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ate</a:t>
            </a:r>
            <a:r>
              <a:rPr lang="en-US" sz="15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 spaja turiste s lokalcima koji ih vode po vlastitom planu — bez chat-a, bez algoritama.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411480" y="1874520"/>
            <a:ext cx="4205160" cy="1260720"/>
          </a:xfrm>
          <a:prstGeom prst="rect">
            <a:avLst/>
          </a:prstGeom>
          <a:solidFill>
            <a:srgbClr val="c0392b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4"/>
          <p:cNvSpPr/>
          <p:nvPr/>
        </p:nvSpPr>
        <p:spPr>
          <a:xfrm>
            <a:off x="576000" y="20116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hr-H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🔓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hr-H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Dostupno, jednostavno, besplatno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576000" y="24231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Direktno rješenje bez puno filozofije i na bilo kojem ekranu.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4846320" y="1874520"/>
            <a:ext cx="4205160" cy="12607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 7"/>
          <p:cNvSpPr/>
          <p:nvPr/>
        </p:nvSpPr>
        <p:spPr>
          <a:xfrm>
            <a:off x="5010840" y="20116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📍</a:t>
            </a:r>
            <a:r>
              <a:rPr lang="hr-HR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Tko zna bolje od lokalca?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5010840" y="24231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Provedi dan u stranom gradu kao jedan od njih!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411480" y="3291840"/>
            <a:ext cx="4205160" cy="12607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576000" y="3429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🤝  IRL susreti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76000" y="384048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Nema DM-ova. Nema chata</a:t>
            </a: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. Pojaviš se, proživiš!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4846320" y="3291840"/>
            <a:ext cx="4205160" cy="12607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5010840" y="342900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⭐  Rating sustav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5010840" y="384048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Vjerodostojnost profila ocjenjuje zajednica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Konkurencija?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41148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3"/>
          <p:cNvSpPr/>
          <p:nvPr/>
        </p:nvSpPr>
        <p:spPr>
          <a:xfrm>
            <a:off x="41148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0292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Guru Walk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502920" y="2743200"/>
            <a:ext cx="2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GB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Neujednačena kvaliteta, nema personalizacije tura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324612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7"/>
          <p:cNvSpPr/>
          <p:nvPr/>
        </p:nvSpPr>
        <p:spPr>
          <a:xfrm>
            <a:off x="324612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33756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TripBFF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3337560" y="2743200"/>
            <a:ext cx="2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GB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Nepouzdani korisnici, sigurnosni i organizacijski rizici.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608076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608076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617220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Withlocals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6172200" y="2743200"/>
            <a:ext cx="2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Nema IRL politike, naplaćuje 80€+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411480" y="3703320"/>
            <a:ext cx="8319960" cy="776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502920" y="3703320"/>
            <a:ext cx="82285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Jedini s IRL-only politikom  ·  ✓  Besplatno</a:t>
            </a:r>
            <a:r>
              <a:rPr lang="hr-H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 ✓  </a:t>
            </a:r>
            <a:r>
              <a:rPr lang="hr-H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Interaktivna karta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6"/>
          <p:cNvPicPr/>
          <p:nvPr/>
        </p:nvPicPr>
        <p:blipFill>
          <a:blip r:embed="rId1"/>
          <a:stretch/>
        </p:blipFill>
        <p:spPr>
          <a:xfrm>
            <a:off x="6304680" y="1019520"/>
            <a:ext cx="2157120" cy="161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0"/>
          <p:cNvPicPr/>
          <p:nvPr/>
        </p:nvPicPr>
        <p:blipFill>
          <a:blip r:embed="rId2"/>
          <a:stretch/>
        </p:blipFill>
        <p:spPr>
          <a:xfrm>
            <a:off x="1248120" y="1463040"/>
            <a:ext cx="913320" cy="9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32"/>
          <p:cNvPicPr/>
          <p:nvPr/>
        </p:nvPicPr>
        <p:blipFill>
          <a:blip r:embed="rId3"/>
          <a:stretch/>
        </p:blipFill>
        <p:spPr>
          <a:xfrm>
            <a:off x="3564360" y="1420200"/>
            <a:ext cx="1913760" cy="95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Poslovni plan i financije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41148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3"/>
          <p:cNvSpPr/>
          <p:nvPr/>
        </p:nvSpPr>
        <p:spPr>
          <a:xfrm>
            <a:off x="41148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4"/>
          <p:cNvSpPr/>
          <p:nvPr/>
        </p:nvSpPr>
        <p:spPr>
          <a:xfrm>
            <a:off x="50292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Oglašavanje putem aplikacije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673560" y="2743200"/>
            <a:ext cx="20804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Neinvazivne reklame, na sporednim dijelovima sučelja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324612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7"/>
          <p:cNvSpPr/>
          <p:nvPr/>
        </p:nvSpPr>
        <p:spPr>
          <a:xfrm>
            <a:off x="324612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8"/>
          <p:cNvSpPr/>
          <p:nvPr/>
        </p:nvSpPr>
        <p:spPr>
          <a:xfrm>
            <a:off x="333756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Sponzorirani javni događaji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3507120" y="2743200"/>
            <a:ext cx="2220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Partnerstva sa lokalnim klubovima, restoranima, ... (prikaz na karti)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 interferira sa primarnom funkcionalnosti aplikacije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6080760" y="1234440"/>
            <a:ext cx="2604960" cy="22849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6080760" y="1371600"/>
            <a:ext cx="2604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6172200" y="2331720"/>
            <a:ext cx="24220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Plaćeni profil sa dodatnim funkcionalnostima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6602760" y="2743200"/>
            <a:ext cx="1560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Stvaranje zajednica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profile management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411480" y="3703320"/>
            <a:ext cx="8274240" cy="1293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2214720" y="3954960"/>
            <a:ext cx="579132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hr-H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„Freemium” model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lang="hr-H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Korisničko iskustvo na prvom mjestu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r>
              <a:rPr lang="hr-H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Prostor za zaradu bez napastnih modela viđenih kod velikih korporacija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20"/>
          <p:cNvPicPr/>
          <p:nvPr/>
        </p:nvPicPr>
        <p:blipFill>
          <a:blip r:embed="rId1"/>
          <a:stretch/>
        </p:blipFill>
        <p:spPr>
          <a:xfrm>
            <a:off x="1204560" y="1357560"/>
            <a:ext cx="1018800" cy="10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24"/>
          <p:cNvPicPr/>
          <p:nvPr/>
        </p:nvPicPr>
        <p:blipFill>
          <a:blip r:embed="rId2"/>
          <a:stretch/>
        </p:blipFill>
        <p:spPr>
          <a:xfrm>
            <a:off x="3990960" y="1371600"/>
            <a:ext cx="991440" cy="95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27"/>
          <p:cNvPicPr/>
          <p:nvPr/>
        </p:nvPicPr>
        <p:blipFill>
          <a:blip r:embed="rId3"/>
          <a:stretch/>
        </p:blipFill>
        <p:spPr>
          <a:xfrm>
            <a:off x="6873840" y="1357560"/>
            <a:ext cx="1018800" cy="101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1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411480" y="32004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Marketing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493920" y="1609200"/>
            <a:ext cx="2605680" cy="228564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493920" y="174636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576000" y="174636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Društvene mreže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768960" y="2358720"/>
            <a:ext cx="2081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Kratki informativni videi (reels)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Objave na r/travel i slično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Reddit, Instagram, TikTok, 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3328560" y="1609200"/>
            <a:ext cx="2605680" cy="228564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3328560" y="174636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3396960" y="17550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Forumi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9"/>
          <p:cNvSpPr/>
          <p:nvPr/>
        </p:nvSpPr>
        <p:spPr>
          <a:xfrm>
            <a:off x="3621960" y="2203560"/>
            <a:ext cx="222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Predstaviti ideju na Tripadvisor forumu i sličnim popularnim stranicama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6163200" y="1609200"/>
            <a:ext cx="2605680" cy="228564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6163200" y="1746360"/>
            <a:ext cx="260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lang="en-US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31"/>
          <p:cNvSpPr/>
          <p:nvPr/>
        </p:nvSpPr>
        <p:spPr>
          <a:xfrm>
            <a:off x="6291360" y="176904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Letci, usmenim putem, ...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2"/>
          <p:cNvSpPr/>
          <p:nvPr/>
        </p:nvSpPr>
        <p:spPr>
          <a:xfrm>
            <a:off x="6685200" y="2637720"/>
            <a:ext cx="156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Lijepiti plakate u blizini mjesta poput studentskih domova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hr-HR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Podijeliti letke u lokalitetima poput „Booksa” gdje se kreće profil ljudi koji vole putovati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Arhitektura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274320" y="1371600"/>
            <a:ext cx="1553400" cy="2467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274320" y="1463040"/>
            <a:ext cx="1553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320040" y="26060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Spring Boot</a:t>
            </a:r>
            <a:r>
              <a:rPr lang="hr-HR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+ Java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320040" y="3044880"/>
            <a:ext cx="146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Backend &amp;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2011680" y="1371600"/>
            <a:ext cx="1553400" cy="2467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2011680" y="1463040"/>
            <a:ext cx="1553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2057400" y="26060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Thymeleaf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2057400" y="3044880"/>
            <a:ext cx="146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Frontend templating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3749040" y="1371600"/>
            <a:ext cx="1553400" cy="2467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3749040" y="1463040"/>
            <a:ext cx="1553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3794760" y="26060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Leaflet.js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3794760" y="3044880"/>
            <a:ext cx="146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Interaktivna mapa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5486400" y="1371600"/>
            <a:ext cx="1553400" cy="2467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5486400" y="1463040"/>
            <a:ext cx="1553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5532120" y="26060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5532120" y="3044880"/>
            <a:ext cx="146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Baza podataka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8"/>
          <p:cNvSpPr/>
          <p:nvPr/>
        </p:nvSpPr>
        <p:spPr>
          <a:xfrm>
            <a:off x="7223760" y="1371600"/>
            <a:ext cx="1553400" cy="24678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7223760" y="1463040"/>
            <a:ext cx="15534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5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7269480" y="2606040"/>
            <a:ext cx="1461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7269480" y="3044880"/>
            <a:ext cx="1461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Hosting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411480" y="4069080"/>
            <a:ext cx="8319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Jednostavan stack. Minimalni troškovi.</a:t>
            </a:r>
            <a:r>
              <a:rPr lang="hr-HR" sz="1400" b="0" i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 Brza isporuka.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27"/>
          <p:cNvPicPr/>
          <p:nvPr/>
        </p:nvPicPr>
        <p:blipFill>
          <a:blip r:embed="rId1"/>
          <a:stretch/>
        </p:blipFill>
        <p:spPr>
          <a:xfrm>
            <a:off x="2446560" y="1851840"/>
            <a:ext cx="683280" cy="68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29"/>
          <p:cNvPicPr/>
          <p:nvPr/>
        </p:nvPicPr>
        <p:blipFill>
          <a:blip r:embed="rId2"/>
          <a:stretch/>
        </p:blipFill>
        <p:spPr>
          <a:xfrm>
            <a:off x="3794760" y="2013840"/>
            <a:ext cx="146196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31"/>
          <p:cNvPicPr/>
          <p:nvPr/>
        </p:nvPicPr>
        <p:blipFill>
          <a:blip r:embed="rId3"/>
          <a:stretch/>
        </p:blipFill>
        <p:spPr>
          <a:xfrm>
            <a:off x="5587920" y="1650960"/>
            <a:ext cx="1350360" cy="108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33"/>
          <p:cNvPicPr/>
          <p:nvPr/>
        </p:nvPicPr>
        <p:blipFill>
          <a:blip r:embed="rId4"/>
          <a:stretch/>
        </p:blipFill>
        <p:spPr>
          <a:xfrm>
            <a:off x="698760" y="1855080"/>
            <a:ext cx="704160" cy="70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35"/>
          <p:cNvPicPr/>
          <p:nvPr/>
        </p:nvPicPr>
        <p:blipFill>
          <a:blip r:embed="rId5"/>
          <a:stretch/>
        </p:blipFill>
        <p:spPr>
          <a:xfrm>
            <a:off x="7050960" y="1504080"/>
            <a:ext cx="1962000" cy="130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11480" y="320040"/>
            <a:ext cx="45709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Buduće značajke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11480" y="1051560"/>
            <a:ext cx="8319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5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Ideje u redu čekanja, ozbiljni planovi za daljnji razvoj aplikacije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411480" y="1874520"/>
            <a:ext cx="4205160" cy="1260720"/>
          </a:xfrm>
          <a:prstGeom prst="rect">
            <a:avLst/>
          </a:prstGeom>
          <a:solidFill>
            <a:srgbClr val="c0392b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576000" y="20116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🤖  AI profil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76000" y="24231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0d0ce"/>
                </a:solidFill>
                <a:effectLst/>
                <a:uFillTx/>
                <a:latin typeface="Calibri"/>
                <a:ea typeface="Calibri"/>
              </a:rPr>
              <a:t>Opiši idealan dan → AI strukturira tvoj profil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4846320" y="1874520"/>
            <a:ext cx="4205160" cy="12607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5010840" y="20116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📍</a:t>
            </a:r>
            <a:r>
              <a:rPr lang="hr-HR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”Hidden Gems” karta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5010840" y="24231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Lokalci pin-aju prave skrivene bisere, ne sponzorirane lokacije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576000" y="3364920"/>
            <a:ext cx="8274240" cy="126072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2822760" y="350208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🤝</a:t>
            </a:r>
            <a:r>
              <a:rPr lang="hr-HR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Community Events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2822760" y="39135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ExperiMate zajednica može definirati real-time događaje na interaktivnoj karti.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 izrade aplikacije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822960" y="2834640"/>
            <a:ext cx="7498080" cy="360"/>
          </a:xfrm>
          <a:prstGeom prst="line">
            <a:avLst/>
          </a:prstGeom>
          <a:ln w="317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1600200" y="2651760"/>
            <a:ext cx="383040" cy="38304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49080" y="315468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Polufinale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649080" y="165960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MVP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649080" y="3520440"/>
            <a:ext cx="22849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Interaktivna m</a:t>
            </a: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apa,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Izrada </a:t>
            </a: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profil</a:t>
            </a: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kreiranje tura,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Rezervacije tura,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ocjenjivanje Mate-ova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1792080" y="2176200"/>
            <a:ext cx="360" cy="475560"/>
          </a:xfrm>
          <a:prstGeom prst="line">
            <a:avLst/>
          </a:prstGeom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4114800" y="2651760"/>
            <a:ext cx="383040" cy="38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3163680" y="315684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Finale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3163680" y="164592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2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Dodatne značajke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3250800" y="3566160"/>
            <a:ext cx="22849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Community tab,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AI rating sustav</a:t>
            </a: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„Hidden gems”,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AI profile management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4306680" y="2176200"/>
            <a:ext cx="360" cy="475560"/>
          </a:xfrm>
          <a:prstGeom prst="line">
            <a:avLst/>
          </a:prstGeom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6629400" y="2651760"/>
            <a:ext cx="383040" cy="38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5678280" y="319284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Budućnost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5678280" y="1645920"/>
            <a:ext cx="2284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Skaliranje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5678280" y="3566160"/>
            <a:ext cx="22849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Više gradova,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5a5a5a"/>
                </a:solidFill>
                <a:effectLst/>
                <a:uFillTx/>
                <a:latin typeface="Calibri"/>
                <a:ea typeface="Calibri"/>
              </a:rPr>
              <a:t>Verified Local badge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6821280" y="2176200"/>
            <a:ext cx="360" cy="475560"/>
          </a:xfrm>
          <a:prstGeom prst="line">
            <a:avLst/>
          </a:prstGeom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63440" cy="5142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32004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Naš tim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88720"/>
            <a:ext cx="2742120" cy="33822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1188720" y="1371600"/>
            <a:ext cx="1187640" cy="1187640"/>
          </a:xfrm>
          <a:prstGeom prst="ellipse">
            <a:avLst/>
          </a:prstGeom>
          <a:blipFill rotWithShape="0">
            <a:blip r:embed="rId1"/>
            <a:srcRect/>
            <a:tile tx="0" ty="95482" sx="6993" sy="6992" algn="ctr"/>
          </a:blip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88720" y="1371600"/>
            <a:ext cx="11876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502920" y="2697480"/>
            <a:ext cx="2559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David Topić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513000" y="320040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Backend Developer</a:t>
            </a:r>
            <a:br>
              <a:rPr sz="1300"/>
            </a:b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&amp;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arhitektura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502920" y="3547800"/>
            <a:ext cx="2559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Spring Boot · PostgreSQL · VPS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3337560" y="1225440"/>
            <a:ext cx="2742120" cy="33822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4114800" y="1371600"/>
            <a:ext cx="11876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3429000" y="2697480"/>
            <a:ext cx="2559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Vito Strmečki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3429000" y="319968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Frontend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&amp;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UI/UX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429000" y="3547800"/>
            <a:ext cx="2559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Thymeleaf · Leaflet.js · Design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6263640" y="1188720"/>
            <a:ext cx="2742120" cy="3382200"/>
          </a:xfrm>
          <a:prstGeom prst="rect">
            <a:avLst/>
          </a:prstGeom>
          <a:solidFill>
            <a:srgbClr val="f7f5f2"/>
          </a:solidFill>
          <a:ln w="12700">
            <a:solidFill>
              <a:srgbClr val="e0dd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7040880" y="1371600"/>
            <a:ext cx="11876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6355080" y="2697480"/>
            <a:ext cx="2559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Luka Merćep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6355080" y="319968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Marketing</a:t>
            </a: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 Brand</a:t>
            </a: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&amp;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r-HR" sz="1300" b="0" i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HR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6355080" y="3547800"/>
            <a:ext cx="2559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Strategija · Growth · Komunikacija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411480" y="4681800"/>
            <a:ext cx="8319960" cy="38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502920" y="4681800"/>
            <a:ext cx="8228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"Naš tim </a:t>
            </a:r>
            <a:r>
              <a:rPr lang="hr-HR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razvija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Experi</a:t>
            </a:r>
            <a:r>
              <a:rPr lang="hr-HR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ate kako bi</a:t>
            </a:r>
            <a:r>
              <a:rPr lang="hr-HR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pomogao </a:t>
            </a:r>
            <a:r>
              <a:rPr lang="hr-HR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nama 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putnicima</a:t>
            </a:r>
            <a:r>
              <a:rPr lang="hr-HR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steći iskustva kakva ćemo doživotno pamtiti.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4114800" y="1371600"/>
            <a:ext cx="1187640" cy="1199160"/>
          </a:xfrm>
          <a:prstGeom prst="ellipse">
            <a:avLst/>
          </a:prstGeom>
          <a:blipFill rotWithShape="0">
            <a:blip r:embed="rId2"/>
            <a:srcRect/>
            <a:tile tx="0" ty="11811" sx="100000" sy="100000" algn="ctr"/>
          </a:blip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7040880" y="1371600"/>
            <a:ext cx="1187640" cy="1187640"/>
          </a:xfrm>
          <a:prstGeom prst="ellipse">
            <a:avLst/>
          </a:prstGeom>
          <a:blipFill rotWithShape="0">
            <a:blip r:embed="rId3"/>
            <a:srcRect/>
            <a:tile tx="0" ty="0" sx="100000" sy="100000" algn="ctr"/>
          </a:blip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hr-H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Application>LibreOffice/25.8.5.2$Linux_X86_64 LibreOffice_project/252c20f6956e3db0b52e6e2f9dda67263513c8fc</Application>
  <AppVersion>15.0000</AppVersion>
  <Words>525</Words>
  <Paragraphs>124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2026-03-21T18:48:52Z</dcterms:created>
  <dc:creator>PptxGenJS</dc:creator>
  <dc:description/>
  <dc:language>en-US</dc:language>
  <cp:lastModifiedBy/>
  <dcterms:modified xsi:type="dcterms:W3CDTF">2026-03-22T14:06:52Z</dcterms:modified>
  <cp:revision>25</cp:revision>
  <dc:subject>PptxGenJS Presentation</dc:subject>
  <dc:title>Experimate 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